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98480" cy="1920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NovaMart E-Commerce</a:t>
            </a:r>
          </a:p>
          <a:p>
            <a:pPr>
              <a:defRPr sz="3100">
                <a:solidFill>
                  <a:srgbClr val="FFFFFF"/>
                </a:solidFill>
              </a:defRPr>
            </a:pPr>
            <a:r>
              <a:t>Sales Data Analysis using SQL</a:t>
            </a:r>
          </a:p>
          <a:p>
            <a:pPr>
              <a:defRPr sz="1600">
                <a:solidFill>
                  <a:srgbClr val="CDDCEB"/>
                </a:solidFill>
              </a:defRPr>
            </a:pPr>
            <a:r>
              <a:t>Business questions → SQL analysis → management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2062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FFFFFF"/>
                </a:solidFill>
              </a:defRPr>
            </a:pPr>
            <a:r>
              <a:t>Data period: January 2023 – June 2025</a:t>
            </a:r>
          </a:p>
          <a:p>
            <a:pPr>
              <a:defRPr sz="1400">
                <a:solidFill>
                  <a:srgbClr val="CDDCEB"/>
                </a:solidFill>
              </a:defRPr>
            </a:pPr>
            <a:r>
              <a:t>Project role: Data Analyst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CD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1792" y="654710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078"/>
                </a:solidFill>
              </a:defRPr>
            </a:pPr>
            <a:r>
              <a:t>NovaMart E-Commerce Sales Analysis • SQL Portfolio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078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</a:defRPr>
            </a:pPr>
            <a:r>
              <a:t>1. Business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078"/>
                </a:solidFill>
              </a:defRPr>
            </a:pPr>
            <a:r>
              <a:t>Source: NovaMart client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72D"/>
                </a:solidFill>
              </a:defRPr>
            </a:pPr>
            <a:r>
              <a:t>• NovaMart is a multi-category online retailer operating across Electronics, Clothing, Home &amp; Kitchen, Sports &amp; Outdoors, and Beauty &amp; Personal Care.</a:t>
            </a:r>
          </a:p>
          <a:p>
            <a:pPr>
              <a:spcAft>
                <a:spcPts val="1000"/>
              </a:spcAft>
              <a:defRPr sz="1800">
                <a:solidFill>
                  <a:srgbClr val="23272D"/>
                </a:solidFill>
              </a:defRPr>
            </a:pPr>
            <a:r>
              <a:t>• Management wants a clearer view of sales performance, customer behavior, profitability, inventory health, order patterns, and payment performance.</a:t>
            </a:r>
          </a:p>
          <a:p>
            <a:pPr>
              <a:spcAft>
                <a:spcPts val="1000"/>
              </a:spcAft>
              <a:defRPr sz="1800">
                <a:solidFill>
                  <a:srgbClr val="23272D"/>
                </a:solidFill>
              </a:defRPr>
            </a:pPr>
            <a:r>
              <a:t>• The analysis is designed to turn transactional data into SQL-backed answers that can support inventory, marketing, pricing, and customer-retention decisions.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CD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654710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078"/>
                </a:solidFill>
              </a:defRPr>
            </a:pPr>
            <a:r>
              <a:t>NovaMart E-Commerce Sales Analysis • SQL Portfolio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07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</a:defRPr>
            </a:pPr>
            <a:r>
              <a:t>2. Data &amp; Relational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078"/>
                </a:solidFill>
              </a:defRPr>
            </a:pPr>
            <a:r>
              <a:t>Three related tables supplied for the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3200400" cy="1417320"/>
          </a:xfrm>
          <a:prstGeom prst="roundRect">
            <a:avLst/>
          </a:prstGeom>
          <a:solidFill>
            <a:srgbClr val="F0F4F8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92D4B"/>
                </a:solidFill>
              </a:defRPr>
            </a:pPr>
            <a:r>
              <a:t>500</a:t>
            </a:r>
          </a:p>
          <a:p>
            <a:pPr algn="ctr">
              <a:defRPr sz="1000">
                <a:solidFill>
                  <a:srgbClr val="697078"/>
                </a:solidFill>
              </a:defRPr>
            </a:pPr>
            <a:r>
              <a:t>Customers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371600"/>
            <a:ext cx="3200400" cy="1417320"/>
          </a:xfrm>
          <a:prstGeom prst="roundRect">
            <a:avLst/>
          </a:prstGeom>
          <a:solidFill>
            <a:srgbClr val="F0F4F8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92D4B"/>
                </a:solidFill>
              </a:defRPr>
            </a:pPr>
            <a:r>
              <a:t>199</a:t>
            </a:r>
          </a:p>
          <a:p>
            <a:pPr algn="ctr">
              <a:defRPr sz="1000">
                <a:solidFill>
                  <a:srgbClr val="697078"/>
                </a:solidFill>
              </a:defRPr>
            </a:pPr>
            <a:r>
              <a:t>Products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371600"/>
            <a:ext cx="3200400" cy="1417320"/>
          </a:xfrm>
          <a:prstGeom prst="roundRect">
            <a:avLst/>
          </a:prstGeom>
          <a:solidFill>
            <a:srgbClr val="F0F4F8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92D4B"/>
                </a:solidFill>
              </a:defRPr>
            </a:pPr>
            <a:r>
              <a:t>850</a:t>
            </a:r>
          </a:p>
          <a:p>
            <a:pPr algn="ctr">
              <a:defRPr sz="1000">
                <a:solidFill>
                  <a:srgbClr val="697078"/>
                </a:solidFill>
              </a:defRPr>
            </a:pPr>
            <a:r>
              <a:t>Orders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72D"/>
                </a:solidFill>
              </a:defRPr>
            </a:pPr>
            <a:r>
              <a:t>• Customers: customer identity, contact details, location, signup date, gender, and age.</a:t>
            </a:r>
          </a:p>
          <a:p>
            <a:pPr>
              <a:spcAft>
                <a:spcPts val="1000"/>
              </a:spcAft>
              <a:defRPr sz="1600">
                <a:solidFill>
                  <a:srgbClr val="23272D"/>
                </a:solidFill>
              </a:defRPr>
            </a:pPr>
            <a:r>
              <a:t>• Products: product, category/sub-category, brand, selling price, cost price, and stock.</a:t>
            </a:r>
          </a:p>
          <a:p>
            <a:pPr>
              <a:spcAft>
                <a:spcPts val="1000"/>
              </a:spcAft>
              <a:defRPr sz="1600">
                <a:solidFill>
                  <a:srgbClr val="23272D"/>
                </a:solidFill>
              </a:defRPr>
            </a:pPr>
            <a:r>
              <a:t>• Orders: customer/product references, order date, quantity, amount, status, and payment method.</a:t>
            </a:r>
          </a:p>
          <a:p>
            <a:pPr>
              <a:spcAft>
                <a:spcPts val="1000"/>
              </a:spcAft>
              <a:defRPr sz="1600">
                <a:solidFill>
                  <a:srgbClr val="23272D"/>
                </a:solidFill>
              </a:defRPr>
            </a:pPr>
            <a:r>
              <a:t>• SQL joins connect customer, product, and order information for business-level analysis.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CD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654710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078"/>
                </a:solidFill>
              </a:defRPr>
            </a:pPr>
            <a:r>
              <a:t>NovaMart E-Commerce Sales Analysis • SQL Portfolio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07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</a:defRPr>
            </a:pPr>
            <a:r>
              <a:t>3. Analysis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078"/>
                </a:solidFill>
              </a:defRPr>
            </a:pPr>
            <a:r>
              <a:t>30 business questions organized by difficulty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25880"/>
            <a:ext cx="3017520" cy="1280160"/>
          </a:xfrm>
          <a:prstGeom prst="roundRect">
            <a:avLst/>
          </a:prstGeom>
          <a:solidFill>
            <a:srgbClr val="F0F4F8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92D4B"/>
                </a:solidFill>
              </a:defRPr>
            </a:pPr>
            <a:r>
              <a:t>11</a:t>
            </a:r>
          </a:p>
          <a:p>
            <a:pPr algn="ctr">
              <a:defRPr sz="1000">
                <a:solidFill>
                  <a:srgbClr val="697078"/>
                </a:solidFill>
              </a:defRPr>
            </a:pPr>
            <a:r>
              <a:t>Basic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1325880"/>
            <a:ext cx="3017520" cy="1280160"/>
          </a:xfrm>
          <a:prstGeom prst="roundRect">
            <a:avLst/>
          </a:prstGeom>
          <a:solidFill>
            <a:srgbClr val="F0F4F8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92D4B"/>
                </a:solidFill>
              </a:defRPr>
            </a:pPr>
            <a:r>
              <a:t>9</a:t>
            </a:r>
          </a:p>
          <a:p>
            <a:pPr algn="ctr">
              <a:defRPr sz="1000">
                <a:solidFill>
                  <a:srgbClr val="697078"/>
                </a:solidFill>
              </a:defRPr>
            </a:pPr>
            <a:r>
              <a:t>Intermediate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325880"/>
            <a:ext cx="3017520" cy="1280160"/>
          </a:xfrm>
          <a:prstGeom prst="roundRect">
            <a:avLst/>
          </a:prstGeom>
          <a:solidFill>
            <a:srgbClr val="F0F4F8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92D4B"/>
                </a:solidFill>
              </a:defRPr>
            </a:pPr>
            <a:r>
              <a:t>10</a:t>
            </a:r>
          </a:p>
          <a:p>
            <a:pPr algn="ctr">
              <a:defRPr sz="1000">
                <a:solidFill>
                  <a:srgbClr val="697078"/>
                </a:solidFill>
              </a:defRPr>
            </a:pPr>
            <a:r>
              <a:t>Advanced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72D"/>
                </a:solidFill>
              </a:defRPr>
            </a:pPr>
            <a:r>
              <a:t>• Basic: filtering, aggregation, stock, product and order lookups.</a:t>
            </a:r>
          </a:p>
          <a:p>
            <a:pPr>
              <a:spcAft>
                <a:spcPts val="1000"/>
              </a:spcAft>
              <a:defRPr sz="1700">
                <a:solidFill>
                  <a:srgbClr val="23272D"/>
                </a:solidFill>
              </a:defRPr>
            </a:pPr>
            <a:r>
              <a:t>• Intermediate: joins, grouping, customer spend, product/category performance, and remaining stock.</a:t>
            </a:r>
          </a:p>
          <a:p>
            <a:pPr>
              <a:spcAft>
                <a:spcPts val="1000"/>
              </a:spcAft>
              <a:defRPr sz="1700">
                <a:solidFill>
                  <a:srgbClr val="23272D"/>
                </a:solidFill>
              </a:defRPr>
            </a:pPr>
            <a:r>
              <a:t>• Advanced: time-series revenue, revenue share, profitability, ranking, segmentation, stock-out risk, payment analysis, and MoM growth.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CD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654710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078"/>
                </a:solidFill>
              </a:defRPr>
            </a:pPr>
            <a:r>
              <a:t>NovaMart E-Commerce Sales Analysis • SQL Portfolio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07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</a:defRPr>
            </a:pPr>
            <a:r>
              <a:t>4. SQL Techniques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078"/>
                </a:solidFill>
              </a:defRPr>
            </a:pPr>
            <a:r>
              <a:t>The query set demonstrates progressively more analytical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72D"/>
                </a:solidFill>
              </a:defRPr>
            </a:pPr>
            <a:r>
              <a:t>• Filtering: WHERE, BETWEEN, IN, DISTINCT</a:t>
            </a:r>
          </a:p>
          <a:p>
            <a:pPr>
              <a:spcAft>
                <a:spcPts val="1000"/>
              </a:spcAft>
              <a:defRPr sz="1700">
                <a:solidFill>
                  <a:srgbClr val="23272D"/>
                </a:solidFill>
              </a:defRPr>
            </a:pPr>
            <a:r>
              <a:t>• Aggregation: SUM, AVG, COUNT, MIN, MAX</a:t>
            </a:r>
          </a:p>
          <a:p>
            <a:pPr>
              <a:spcAft>
                <a:spcPts val="1000"/>
              </a:spcAft>
              <a:defRPr sz="1700">
                <a:solidFill>
                  <a:srgbClr val="23272D"/>
                </a:solidFill>
              </a:defRPr>
            </a:pPr>
            <a:r>
              <a:t>• Relational analysis: INNER JOIN and LEFT JOIN</a:t>
            </a:r>
          </a:p>
          <a:p>
            <a:pPr>
              <a:spcAft>
                <a:spcPts val="1000"/>
              </a:spcAft>
              <a:defRPr sz="1700">
                <a:solidFill>
                  <a:srgbClr val="23272D"/>
                </a:solidFill>
              </a:defRPr>
            </a:pPr>
            <a:r>
              <a:t>• Grouping: GROUP BY with HAVING and ORDER BY</a:t>
            </a:r>
          </a:p>
          <a:p>
            <a:pPr>
              <a:spcAft>
                <a:spcPts val="1000"/>
              </a:spcAft>
              <a:defRPr sz="1700">
                <a:solidFill>
                  <a:srgbClr val="23272D"/>
                </a:solidFill>
              </a:defRPr>
            </a:pPr>
            <a:r>
              <a:t>• Advanced SQL: CTEs, RANK() OVER(PARTITION BY ...), LAG() OVER(...), CASE segmentation, DATE_FORMAT</a:t>
            </a:r>
          </a:p>
          <a:p>
            <a:pPr>
              <a:spcAft>
                <a:spcPts val="1000"/>
              </a:spcAft>
              <a:defRPr sz="1700">
                <a:solidFill>
                  <a:srgbClr val="23272D"/>
                </a:solidFill>
              </a:defRPr>
            </a:pPr>
            <a:r>
              <a:t>• Business metrics: revenue share, gross profit, gross margin, customer lifetime value, stock-out risk, and MoM growth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CD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654710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078"/>
                </a:solidFill>
              </a:defRPr>
            </a:pPr>
            <a:r>
              <a:t>NovaMart E-Commerce Sales Analysis • SQL Portfolio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07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</a:defRPr>
            </a:pPr>
            <a:r>
              <a:t>5. Revenue Performance by Category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078"/>
                </a:solidFill>
              </a:defRPr>
            </a:pPr>
            <a:r>
              <a:t>Q22 output: revenue contribution across completed + shipped orders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417320"/>
            <a:ext cx="3322320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3272D"/>
                </a:solidFill>
              </a:defRPr>
            </a:pPr>
            <a:r>
              <a:rPr dirty="0"/>
              <a:t>Electronics: $351,632.40 (60.61%)</a:t>
            </a:r>
          </a:p>
          <a:p>
            <a:pPr>
              <a:spcAft>
                <a:spcPts val="800"/>
              </a:spcAft>
              <a:defRPr sz="1300">
                <a:solidFill>
                  <a:srgbClr val="23272D"/>
                </a:solidFill>
              </a:defRPr>
            </a:pPr>
            <a:r>
              <a:rPr dirty="0"/>
              <a:t>Home &amp; Kitchen: $102,324.02 (17.64%)</a:t>
            </a:r>
          </a:p>
          <a:p>
            <a:pPr>
              <a:spcAft>
                <a:spcPts val="800"/>
              </a:spcAft>
              <a:defRPr sz="1300">
                <a:solidFill>
                  <a:srgbClr val="23272D"/>
                </a:solidFill>
              </a:defRPr>
            </a:pPr>
            <a:r>
              <a:rPr dirty="0"/>
              <a:t>Sports &amp; Outdoors: $70,351.18 (12.13%)</a:t>
            </a:r>
          </a:p>
          <a:p>
            <a:pPr>
              <a:spcAft>
                <a:spcPts val="800"/>
              </a:spcAft>
              <a:defRPr sz="1300">
                <a:solidFill>
                  <a:srgbClr val="23272D"/>
                </a:solidFill>
              </a:defRPr>
            </a:pPr>
            <a:r>
              <a:rPr dirty="0"/>
              <a:t>Beauty &amp; Personal Care: $29,926.08 (5.15%)</a:t>
            </a:r>
          </a:p>
          <a:p>
            <a:pPr>
              <a:spcAft>
                <a:spcPts val="800"/>
              </a:spcAft>
              <a:defRPr sz="1300">
                <a:solidFill>
                  <a:srgbClr val="23272D"/>
                </a:solidFill>
              </a:defRPr>
            </a:pPr>
            <a:r>
              <a:rPr dirty="0"/>
              <a:t>Clothing: $25,940.79 (4.47%)</a:t>
            </a:r>
          </a:p>
          <a:p>
            <a:pPr>
              <a:spcBef>
                <a:spcPts val="800"/>
              </a:spcBef>
              <a:defRPr sz="1500" b="1">
                <a:solidFill>
                  <a:srgbClr val="192D4B"/>
                </a:solidFill>
              </a:defRPr>
            </a:pPr>
            <a:r>
              <a:rPr dirty="0"/>
              <a:t>Observation</a:t>
            </a:r>
          </a:p>
          <a:p>
            <a:pPr>
              <a:defRPr sz="1300">
                <a:solidFill>
                  <a:srgbClr val="23272D"/>
                </a:solidFill>
              </a:defRPr>
            </a:pPr>
            <a:r>
              <a:rPr dirty="0"/>
              <a:t>Electronics contributes 60.61% of the reported category revenue.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CD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654710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078"/>
                </a:solidFill>
              </a:defRPr>
            </a:pPr>
            <a:r>
              <a:t>NovaMart E-Commerce Sales Analysis • SQL Portfolio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078"/>
                </a:solidFill>
              </a:defRPr>
            </a:pPr>
            <a:r>
              <a:t>6</a:t>
            </a:r>
          </a:p>
        </p:txBody>
      </p:sp>
      <p:pic>
        <p:nvPicPr>
          <p:cNvPr id="10" name="Picture 9" descr="novamart_category_revenu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7315200" cy="38472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</a:defRPr>
            </a:pPr>
            <a:r>
              <a:t>6. Profitability by Category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078"/>
                </a:solidFill>
              </a:defRPr>
            </a:pPr>
            <a:r>
              <a:t>Q23 output using Profit = Total_Amount − Cost_Price × Quantity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325880"/>
            <a:ext cx="3511296" cy="2480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23272D"/>
                </a:solidFill>
              </a:defRPr>
            </a:pPr>
            <a:r>
              <a:rPr dirty="0"/>
              <a:t>Electronics: $150,774.84 profit • 42.88% margin</a:t>
            </a:r>
          </a:p>
          <a:p>
            <a:pPr>
              <a:spcAft>
                <a:spcPts val="700"/>
              </a:spcAft>
              <a:defRPr sz="1250">
                <a:solidFill>
                  <a:srgbClr val="23272D"/>
                </a:solidFill>
              </a:defRPr>
            </a:pPr>
            <a:r>
              <a:rPr dirty="0"/>
              <a:t>Home &amp; Kitchen: $49,650.82 profit • 48.72% margin</a:t>
            </a:r>
          </a:p>
          <a:p>
            <a:pPr>
              <a:spcAft>
                <a:spcPts val="700"/>
              </a:spcAft>
              <a:defRPr sz="1250">
                <a:solidFill>
                  <a:srgbClr val="23272D"/>
                </a:solidFill>
              </a:defRPr>
            </a:pPr>
            <a:r>
              <a:rPr dirty="0"/>
              <a:t>Sports &amp; Outdoors: $35,541.24 profit • 50.52% margin</a:t>
            </a:r>
          </a:p>
          <a:p>
            <a:pPr>
              <a:spcAft>
                <a:spcPts val="700"/>
              </a:spcAft>
              <a:defRPr sz="1250">
                <a:solidFill>
                  <a:srgbClr val="23272D"/>
                </a:solidFill>
              </a:defRPr>
            </a:pPr>
            <a:r>
              <a:rPr dirty="0"/>
              <a:t>Beauty &amp; Personal Care: $19,279.42 profit • 64.42% margin</a:t>
            </a:r>
          </a:p>
          <a:p>
            <a:pPr>
              <a:spcAft>
                <a:spcPts val="700"/>
              </a:spcAft>
              <a:defRPr sz="1250">
                <a:solidFill>
                  <a:srgbClr val="23272D"/>
                </a:solidFill>
              </a:defRPr>
            </a:pPr>
            <a:r>
              <a:rPr dirty="0"/>
              <a:t>Clothing: $15,182.24 profit • 58.53% margin</a:t>
            </a:r>
          </a:p>
          <a:p>
            <a:pPr>
              <a:defRPr sz="1300" b="1">
                <a:solidFill>
                  <a:srgbClr val="192D4B"/>
                </a:solidFill>
              </a:defRPr>
            </a:pPr>
            <a:r>
              <a:rPr dirty="0"/>
              <a:t>Reported highest margin: Beauty &amp; Personal Care (64.42%).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CD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654710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078"/>
                </a:solidFill>
              </a:defRPr>
            </a:pPr>
            <a:r>
              <a:t>NovaMart E-Commerce Sales Analysis • SQL Portfolio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078"/>
                </a:solidFill>
              </a:defRPr>
            </a:pPr>
            <a:r>
              <a:t>7</a:t>
            </a:r>
          </a:p>
        </p:txBody>
      </p:sp>
      <p:pic>
        <p:nvPicPr>
          <p:cNvPr id="10" name="Picture 9" descr="novamart_gross_margi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7315200" cy="38496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</a:defRPr>
            </a:pPr>
            <a:r>
              <a:t>7. Customer Value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078"/>
                </a:solidFill>
              </a:defRPr>
            </a:pPr>
            <a:r>
              <a:t>Q19 and Q27 outputs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325880"/>
            <a:ext cx="3291840" cy="1417320"/>
          </a:xfrm>
          <a:prstGeom prst="roundRect">
            <a:avLst/>
          </a:prstGeom>
          <a:solidFill>
            <a:srgbClr val="F0F4F8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92D4B"/>
                </a:solidFill>
              </a:defRPr>
            </a:pPr>
            <a:r>
              <a:t>$13,557.56</a:t>
            </a:r>
          </a:p>
          <a:p>
            <a:pPr algn="ctr">
              <a:defRPr sz="1000">
                <a:solidFill>
                  <a:srgbClr val="697078"/>
                </a:solidFill>
              </a:defRPr>
            </a:pPr>
            <a:r>
              <a:t>Highest lifetime value reported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325880"/>
            <a:ext cx="3291840" cy="1417320"/>
          </a:xfrm>
          <a:prstGeom prst="roundRect">
            <a:avLst/>
          </a:prstGeom>
          <a:solidFill>
            <a:srgbClr val="F0F4F8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92D4B"/>
                </a:solidFill>
              </a:defRPr>
            </a:pPr>
            <a:r>
              <a:t>Todd Fischer</a:t>
            </a:r>
          </a:p>
          <a:p>
            <a:pPr algn="ctr">
              <a:defRPr sz="1000">
                <a:solidFill>
                  <a:srgbClr val="697078"/>
                </a:solidFill>
              </a:defRPr>
            </a:pPr>
            <a:r>
              <a:t>Top-spend customer in Q19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325880"/>
            <a:ext cx="3291840" cy="1417320"/>
          </a:xfrm>
          <a:prstGeom prst="roundRect">
            <a:avLst/>
          </a:prstGeom>
          <a:solidFill>
            <a:srgbClr val="F0F4F8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92D4B"/>
                </a:solidFill>
              </a:defRPr>
            </a:pPr>
            <a:r>
              <a:t>≥ $1,000</a:t>
            </a:r>
          </a:p>
          <a:p>
            <a:pPr algn="ctr">
              <a:defRPr sz="1000">
                <a:solidFill>
                  <a:srgbClr val="697078"/>
                </a:solidFill>
              </a:defRPr>
            </a:pPr>
            <a:r>
              <a:t>High-value threshold used in Q27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72D"/>
                </a:solidFill>
              </a:defRPr>
            </a:pPr>
            <a:r>
              <a:t>• Q19 identifies Todd Fischer as the highest-lifetime-value customer in the provided output.</a:t>
            </a:r>
          </a:p>
          <a:p>
            <a:pPr>
              <a:spcAft>
                <a:spcPts val="1000"/>
              </a:spcAft>
              <a:defRPr sz="1600">
                <a:solidFill>
                  <a:srgbClr val="23272D"/>
                </a:solidFill>
              </a:defRPr>
            </a:pPr>
            <a:r>
              <a:t>• Q24 ranks the top 10 customers by total spend.</a:t>
            </a:r>
          </a:p>
          <a:p>
            <a:pPr>
              <a:spcAft>
                <a:spcPts val="1000"/>
              </a:spcAft>
              <a:defRPr sz="1600">
                <a:solidFill>
                  <a:srgbClr val="23272D"/>
                </a:solidFill>
              </a:defRPr>
            </a:pPr>
            <a:r>
              <a:t>• Q27 segments customers using the project's thresholds: High Value ≥ $1,000; Medium Value ≥ $500; otherwise Low Value.</a:t>
            </a:r>
          </a:p>
          <a:p>
            <a:pPr>
              <a:spcAft>
                <a:spcPts val="1000"/>
              </a:spcAft>
              <a:defRPr sz="1600">
                <a:solidFill>
                  <a:srgbClr val="23272D"/>
                </a:solidFill>
              </a:defRPr>
            </a:pPr>
            <a:r>
              <a:t>• These outputs can support retention and customer-value analysis.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CD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654710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078"/>
                </a:solidFill>
              </a:defRPr>
            </a:pPr>
            <a:r>
              <a:t>NovaMart E-Commerce Sales Analysis • SQL Portfolio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07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</a:defRPr>
            </a:pPr>
            <a:r>
              <a:t>8. Inventory &amp; Stock-Out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078"/>
                </a:solidFill>
              </a:defRPr>
            </a:pPr>
            <a:r>
              <a:t>Q20 and Q28 focus on remaining stock and risk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280160"/>
            <a:ext cx="3291840" cy="1417320"/>
          </a:xfrm>
          <a:prstGeom prst="roundRect">
            <a:avLst/>
          </a:prstGeom>
          <a:solidFill>
            <a:srgbClr val="F0F4F8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92D4B"/>
                </a:solidFill>
              </a:defRPr>
            </a:pPr>
            <a:r>
              <a:t>29,914</a:t>
            </a:r>
          </a:p>
          <a:p>
            <a:pPr algn="ctr">
              <a:defRPr sz="1000">
                <a:solidFill>
                  <a:srgbClr val="697078"/>
                </a:solidFill>
              </a:defRPr>
            </a:pPr>
            <a:r>
              <a:t>Total initial stock reported in Q5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280160"/>
            <a:ext cx="3291840" cy="1417320"/>
          </a:xfrm>
          <a:prstGeom prst="roundRect">
            <a:avLst/>
          </a:prstGeom>
          <a:solidFill>
            <a:srgbClr val="F0F4F8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92D4B"/>
                </a:solidFill>
              </a:defRPr>
            </a:pPr>
            <a:r>
              <a:t>5 units</a:t>
            </a:r>
          </a:p>
          <a:p>
            <a:pPr algn="ctr">
              <a:defRPr sz="1000">
                <a:solidFill>
                  <a:srgbClr val="697078"/>
                </a:solidFill>
              </a:defRPr>
            </a:pPr>
            <a:r>
              <a:t>Current stock of reported risk item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280160"/>
            <a:ext cx="3291840" cy="1417320"/>
          </a:xfrm>
          <a:prstGeom prst="roundRect">
            <a:avLst/>
          </a:prstGeom>
          <a:solidFill>
            <a:srgbClr val="F0F4F8"/>
          </a:solidFill>
          <a:ln>
            <a:solidFill>
              <a:srgbClr val="D7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92D4B"/>
                </a:solidFill>
              </a:defRPr>
            </a:pPr>
            <a:r>
              <a:t>8 sold</a:t>
            </a:r>
          </a:p>
          <a:p>
            <a:pPr algn="ctr">
              <a:defRPr sz="1000">
                <a:solidFill>
                  <a:srgbClr val="697078"/>
                </a:solidFill>
              </a:defRPr>
            </a:pPr>
            <a:r>
              <a:t>Reported sales quantity for risk item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72D"/>
                </a:solidFill>
              </a:defRPr>
            </a:pPr>
            <a:r>
              <a:t>• Q10 reports NovaPhone X1-Lite as the product with the lowest stock: 4 units.</a:t>
            </a:r>
          </a:p>
          <a:p>
            <a:pPr>
              <a:spcAft>
                <a:spcPts val="1000"/>
              </a:spcAft>
              <a:defRPr sz="1600">
                <a:solidFill>
                  <a:srgbClr val="23272D"/>
                </a:solidFill>
              </a:defRPr>
            </a:pPr>
            <a:r>
              <a:t>• Q20 calculates remaining stock after Completed/Shipped sales and orders results by remaining stock ascending.</a:t>
            </a:r>
          </a:p>
          <a:p>
            <a:pPr>
              <a:spcAft>
                <a:spcPts val="1000"/>
              </a:spcAft>
              <a:defRPr sz="1600">
                <a:solidFill>
                  <a:srgbClr val="23272D"/>
                </a:solidFill>
              </a:defRPr>
            </a:pPr>
            <a:r>
              <a:t>• Q28 flags products with current stock &lt; 10 and total sold above the average product sales quantity.</a:t>
            </a:r>
          </a:p>
          <a:p>
            <a:pPr>
              <a:spcAft>
                <a:spcPts val="1000"/>
              </a:spcAft>
              <a:defRPr sz="1600">
                <a:solidFill>
                  <a:srgbClr val="23272D"/>
                </a:solidFill>
              </a:defRPr>
            </a:pPr>
            <a:r>
              <a:t>• The provided Q28 output flags ForgeAudio HD-Lite with 5 current units and 8 units sold.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CD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1792" y="654710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078"/>
                </a:solidFill>
              </a:defRPr>
            </a:pPr>
            <a:r>
              <a:rPr dirty="0" err="1"/>
              <a:t>NovaMart</a:t>
            </a:r>
            <a:r>
              <a:rPr dirty="0"/>
              <a:t> E-Commerce Sales Analysis • SQL Portfolio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078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</a:defRPr>
            </a:pPr>
            <a:r>
              <a:t>9. Payment Method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078"/>
                </a:solidFill>
              </a:defRPr>
            </a:pPr>
            <a:r>
              <a:t>Q29 output: orders, average order value, and revenue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234440"/>
            <a:ext cx="3730752" cy="2423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50">
                <a:solidFill>
                  <a:srgbClr val="23272D"/>
                </a:solidFill>
              </a:defRPr>
            </a:pPr>
            <a:r>
              <a:rPr dirty="0"/>
              <a:t>Google Pay: 138 orders • AOV $810.72 • $111,879.26 revenue</a:t>
            </a:r>
          </a:p>
          <a:p>
            <a:pPr>
              <a:spcAft>
                <a:spcPts val="600"/>
              </a:spcAft>
              <a:defRPr sz="1150">
                <a:solidFill>
                  <a:srgbClr val="23272D"/>
                </a:solidFill>
              </a:defRPr>
            </a:pPr>
            <a:r>
              <a:rPr dirty="0"/>
              <a:t>PayPal: 121 orders • AOV $816.11 • $98,748.88 revenue</a:t>
            </a:r>
          </a:p>
          <a:p>
            <a:pPr>
              <a:spcAft>
                <a:spcPts val="600"/>
              </a:spcAft>
              <a:defRPr sz="1150">
                <a:solidFill>
                  <a:srgbClr val="23272D"/>
                </a:solidFill>
              </a:defRPr>
            </a:pPr>
            <a:r>
              <a:rPr dirty="0"/>
              <a:t>Credit Card: 114 orders • AOV $845.44 • $96,360.81 revenue</a:t>
            </a:r>
          </a:p>
          <a:p>
            <a:pPr>
              <a:spcAft>
                <a:spcPts val="600"/>
              </a:spcAft>
              <a:defRPr sz="1150">
                <a:solidFill>
                  <a:srgbClr val="23272D"/>
                </a:solidFill>
              </a:defRPr>
            </a:pPr>
            <a:r>
              <a:rPr dirty="0"/>
              <a:t>Apple Pay: 110 orders • AOV $875.73 • $96,330.81 revenue</a:t>
            </a:r>
          </a:p>
          <a:p>
            <a:pPr>
              <a:spcAft>
                <a:spcPts val="600"/>
              </a:spcAft>
              <a:defRPr sz="1150">
                <a:solidFill>
                  <a:srgbClr val="23272D"/>
                </a:solidFill>
              </a:defRPr>
            </a:pPr>
            <a:r>
              <a:rPr dirty="0"/>
              <a:t>Bank Transfer: 125 orders • AOV $726.91 • $90,863.55 revenue</a:t>
            </a:r>
          </a:p>
          <a:p>
            <a:pPr>
              <a:spcAft>
                <a:spcPts val="600"/>
              </a:spcAft>
              <a:defRPr sz="1150">
                <a:solidFill>
                  <a:srgbClr val="23272D"/>
                </a:solidFill>
              </a:defRPr>
            </a:pPr>
            <a:r>
              <a:rPr dirty="0"/>
              <a:t>Debit Card: 114 orders • AOV $754.13 • $85,971.36 revenue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CD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654710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078"/>
                </a:solidFill>
              </a:defRPr>
            </a:pPr>
            <a:r>
              <a:t>NovaMart E-Commerce Sales Analysis • SQL Portfolio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078"/>
                </a:solidFill>
              </a:defRPr>
            </a:pPr>
            <a:r>
              <a:t>10</a:t>
            </a:r>
          </a:p>
        </p:txBody>
      </p:sp>
      <p:pic>
        <p:nvPicPr>
          <p:cNvPr id="10" name="Picture 9" descr="novamart_payment_revenu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7315200" cy="384721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</a:defRPr>
            </a:pPr>
            <a:r>
              <a:t>10. Revenue Trend &amp; MoM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078"/>
                </a:solidFill>
              </a:defRPr>
            </a:pPr>
            <a:r>
              <a:t>Q21 and Q30 outputs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234440"/>
            <a:ext cx="3566160" cy="2039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300">
                <a:solidFill>
                  <a:srgbClr val="23272D"/>
                </a:solidFill>
              </a:defRPr>
            </a:pPr>
            <a:r>
              <a:rPr dirty="0"/>
              <a:t>• Peak MoM growth in the displayed Q30 output: +99.40% in 2024-03.</a:t>
            </a:r>
          </a:p>
          <a:p>
            <a:pPr>
              <a:spcAft>
                <a:spcPts val="900"/>
              </a:spcAft>
              <a:defRPr sz="1300">
                <a:solidFill>
                  <a:srgbClr val="23272D"/>
                </a:solidFill>
              </a:defRPr>
            </a:pPr>
            <a:r>
              <a:rPr dirty="0"/>
              <a:t>• The trend then shows several positive-growth months through 2024.</a:t>
            </a:r>
          </a:p>
          <a:p>
            <a:pPr>
              <a:spcAft>
                <a:spcPts val="900"/>
              </a:spcAft>
              <a:defRPr sz="1300">
                <a:solidFill>
                  <a:srgbClr val="23272D"/>
                </a:solidFill>
              </a:defRPr>
            </a:pPr>
            <a:r>
              <a:rPr dirty="0"/>
              <a:t>• 2024-11 shows a reported MoM decline of about 11.65% in Q30.</a:t>
            </a:r>
          </a:p>
          <a:p>
            <a:pPr>
              <a:spcAft>
                <a:spcPts val="900"/>
              </a:spcAft>
              <a:defRPr sz="1300">
                <a:solidFill>
                  <a:srgbClr val="23272D"/>
                </a:solidFill>
              </a:defRPr>
            </a:pPr>
            <a:r>
              <a:rPr dirty="0"/>
              <a:t>• Q21 extends the monthly revenue view through 2025-06.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CD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654710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078"/>
                </a:solidFill>
              </a:defRPr>
            </a:pPr>
            <a:r>
              <a:t>NovaMart E-Commerce Sales Analysis • SQL Portfolio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078"/>
                </a:solidFill>
              </a:defRPr>
            </a:pPr>
            <a:r>
              <a:t>11</a:t>
            </a:r>
          </a:p>
        </p:txBody>
      </p:sp>
      <p:pic>
        <p:nvPicPr>
          <p:cNvPr id="10" name="Picture 9" descr="novamart_monthly_revenu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143000"/>
            <a:ext cx="7498079" cy="394808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</a:defRPr>
            </a:pPr>
            <a:r>
              <a:t>11. Management-Level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078"/>
                </a:solidFill>
              </a:defRPr>
            </a:pPr>
            <a:r>
              <a:t>Insights directly supported by the provided SQL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72D"/>
                </a:solidFill>
              </a:defRPr>
            </a:pPr>
            <a:r>
              <a:t>• Electronics is the dominant reported revenue category at 60.61% contribution.</a:t>
            </a:r>
          </a:p>
          <a:p>
            <a:pPr>
              <a:spcAft>
                <a:spcPts val="1000"/>
              </a:spcAft>
              <a:defRPr sz="1600">
                <a:solidFill>
                  <a:srgbClr val="23272D"/>
                </a:solidFill>
              </a:defRPr>
            </a:pPr>
            <a:r>
              <a:t>• Beauty &amp; Personal Care has the highest reported gross margin at 64.42%, despite a smaller revenue contribution.</a:t>
            </a:r>
          </a:p>
          <a:p>
            <a:pPr>
              <a:spcAft>
                <a:spcPts val="1000"/>
              </a:spcAft>
              <a:defRPr sz="1600">
                <a:solidFill>
                  <a:srgbClr val="23272D"/>
                </a:solidFill>
              </a:defRPr>
            </a:pPr>
            <a:r>
              <a:t>• The customer analysis identifies a clear high-value segment and a top-spending customer for retention analysis.</a:t>
            </a:r>
          </a:p>
          <a:p>
            <a:pPr>
              <a:spcAft>
                <a:spcPts val="1000"/>
              </a:spcAft>
              <a:defRPr sz="1600">
                <a:solidFill>
                  <a:srgbClr val="23272D"/>
                </a:solidFill>
              </a:defRPr>
            </a:pPr>
            <a:r>
              <a:t>• Inventory queries surface low-stock products and remaining-stock exposure after completed/shipped sales.</a:t>
            </a:r>
          </a:p>
          <a:p>
            <a:pPr>
              <a:spcAft>
                <a:spcPts val="1000"/>
              </a:spcAft>
              <a:defRPr sz="1600">
                <a:solidFill>
                  <a:srgbClr val="23272D"/>
                </a:solidFill>
              </a:defRPr>
            </a:pPr>
            <a:r>
              <a:t>• Payment analysis shows Google Pay with the highest reported revenue, while Apple Pay has the highest reported average order value.</a:t>
            </a:r>
          </a:p>
          <a:p>
            <a:pPr>
              <a:spcAft>
                <a:spcPts val="1000"/>
              </a:spcAft>
              <a:defRPr sz="1600">
                <a:solidFill>
                  <a:srgbClr val="23272D"/>
                </a:solidFill>
              </a:defRPr>
            </a:pPr>
            <a:r>
              <a:t>• The monthly analysis shows substantial variation in revenue and month-over-month growth.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CD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654710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078"/>
                </a:solidFill>
              </a:defRPr>
            </a:pPr>
            <a:r>
              <a:t>NovaMart E-Commerce Sales Analysis • SQL Portfolio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078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92D4B"/>
                </a:solidFill>
              </a:defRPr>
            </a:pPr>
            <a:r>
              <a:t>12. SQL Quality Review Before Publishing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144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078"/>
                </a:solidFill>
              </a:defRPr>
            </a:pPr>
            <a:r>
              <a:t>Important consistency issues visible in the submitted query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50">
                <a:solidFill>
                  <a:srgbClr val="23272D"/>
                </a:solidFill>
              </a:defRPr>
            </a:pPr>
            <a:r>
              <a:t>• Q12 uses 'Shiped' in the status filter, while other queries use 'Shipped'. This can exclude shipped orders and explains why Q12 revenue differs from later category-revenue outputs.</a:t>
            </a:r>
          </a:p>
          <a:p>
            <a:pPr>
              <a:spcAft>
                <a:spcPts val="1000"/>
              </a:spcAft>
              <a:defRPr sz="1450">
                <a:solidFill>
                  <a:srgbClr val="23272D"/>
                </a:solidFill>
              </a:defRPr>
            </a:pPr>
            <a:r>
              <a:t>• Q14 asks for 'at least 3 orders' but uses HAVING COUNT(...) &gt; 3. Use &gt;= 3 for the stated requirement.</a:t>
            </a:r>
          </a:p>
          <a:p>
            <a:pPr>
              <a:spcAft>
                <a:spcPts val="1000"/>
              </a:spcAft>
              <a:defRPr sz="1450">
                <a:solidFill>
                  <a:srgbClr val="23272D"/>
                </a:solidFill>
              </a:defRPr>
            </a:pPr>
            <a:r>
              <a:t>• Q25 is labeled 'cancellation rate' but calculates only the monthly count of cancelled orders. A rate requires cancelled orders divided by total orders for the month.</a:t>
            </a:r>
          </a:p>
          <a:p>
            <a:pPr>
              <a:spcAft>
                <a:spcPts val="1000"/>
              </a:spcAft>
              <a:defRPr sz="1450">
                <a:solidFill>
                  <a:srgbClr val="23272D"/>
                </a:solidFill>
              </a:defRPr>
            </a:pPr>
            <a:r>
              <a:t>• Q18 groups by city while also selecting customer name. Under strict SQL modes this is invalid; if the goal is city-level spend, aggregate only by city.</a:t>
            </a:r>
          </a:p>
          <a:p>
            <a:pPr>
              <a:spcAft>
                <a:spcPts val="1000"/>
              </a:spcAft>
              <a:defRPr sz="1450">
                <a:solidFill>
                  <a:srgbClr val="23272D"/>
                </a:solidFill>
              </a:defRPr>
            </a:pPr>
            <a:r>
              <a:t>• Q6/Q10 pair MAX/MIN with a non-aggregated product name. ORDER BY ... DESC/ASC LIMIT 1 is safer when the product identity must match the extreme value.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CD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654710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078"/>
                </a:solidFill>
              </a:defRPr>
            </a:pPr>
            <a:r>
              <a:t>NovaMart E-Commerce Sales Analysis • SQL Portfolio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078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GitHub Portfolio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148840"/>
            <a:ext cx="10241280" cy="2174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72D"/>
                </a:solidFill>
              </a:defRPr>
            </a:pPr>
            <a:r>
              <a:rPr dirty="0">
                <a:solidFill>
                  <a:schemeClr val="bg2">
                    <a:lumMod val="90000"/>
                  </a:schemeClr>
                </a:solidFill>
              </a:rPr>
              <a:t>• README.md — project context, business questions, methodology, findings, SQL techniques, and repository structure.</a:t>
            </a:r>
          </a:p>
          <a:p>
            <a:pPr>
              <a:spcAft>
                <a:spcPts val="1000"/>
              </a:spcAft>
              <a:defRPr sz="1700">
                <a:solidFill>
                  <a:srgbClr val="23272D"/>
                </a:solidFill>
              </a:defRPr>
            </a:pPr>
            <a:r>
              <a:rPr dirty="0">
                <a:solidFill>
                  <a:schemeClr val="bg2">
                    <a:lumMod val="90000"/>
                  </a:schemeClr>
                </a:solidFill>
              </a:rPr>
              <a:t>• </a:t>
            </a:r>
            <a:r>
              <a:rPr dirty="0" err="1">
                <a:solidFill>
                  <a:schemeClr val="bg2">
                    <a:lumMod val="90000"/>
                  </a:schemeClr>
                </a:solidFill>
              </a:rPr>
              <a:t>sql</a:t>
            </a:r>
            <a:r>
              <a:rPr dirty="0">
                <a:solidFill>
                  <a:schemeClr val="bg2">
                    <a:lumMod val="90000"/>
                  </a:schemeClr>
                </a:solidFill>
              </a:rPr>
              <a:t>/</a:t>
            </a:r>
            <a:r>
              <a:rPr dirty="0" err="1">
                <a:solidFill>
                  <a:schemeClr val="bg2">
                    <a:lumMod val="90000"/>
                  </a:schemeClr>
                </a:solidFill>
              </a:rPr>
              <a:t>novamart_analysis.sql</a:t>
            </a:r>
            <a:r>
              <a:rPr dirty="0">
                <a:solidFill>
                  <a:schemeClr val="bg2">
                    <a:lumMod val="90000"/>
                  </a:schemeClr>
                </a:solidFill>
              </a:rPr>
              <a:t> — SQL analysis script.</a:t>
            </a:r>
          </a:p>
          <a:p>
            <a:pPr>
              <a:spcAft>
                <a:spcPts val="1000"/>
              </a:spcAft>
              <a:defRPr sz="1700">
                <a:solidFill>
                  <a:srgbClr val="23272D"/>
                </a:solidFill>
              </a:defRPr>
            </a:pPr>
            <a:r>
              <a:rPr dirty="0">
                <a:solidFill>
                  <a:schemeClr val="bg2">
                    <a:lumMod val="90000"/>
                  </a:schemeClr>
                </a:solidFill>
              </a:rPr>
              <a:t>• presentation/NovaMart_Ecommerce_SQL_Analysis.pptx — presentation for academic/project showcase.</a:t>
            </a:r>
          </a:p>
          <a:p>
            <a:pPr>
              <a:spcAft>
                <a:spcPts val="1000"/>
              </a:spcAft>
              <a:defRPr sz="1700">
                <a:solidFill>
                  <a:srgbClr val="23272D"/>
                </a:solidFill>
              </a:defRPr>
            </a:pPr>
            <a:r>
              <a:rPr dirty="0">
                <a:solidFill>
                  <a:schemeClr val="bg2">
                    <a:lumMod val="90000"/>
                  </a:schemeClr>
                </a:solidFill>
              </a:rPr>
              <a:t>• data/ — reserved for the source CSV files to be added later.</a:t>
            </a:r>
          </a:p>
          <a:p>
            <a:pPr>
              <a:spcAft>
                <a:spcPts val="1000"/>
              </a:spcAft>
              <a:defRPr sz="1700">
                <a:solidFill>
                  <a:srgbClr val="23272D"/>
                </a:solidFill>
              </a:defRPr>
            </a:pPr>
            <a:r>
              <a:rPr dirty="0">
                <a:solidFill>
                  <a:schemeClr val="bg2">
                    <a:lumMod val="90000"/>
                  </a:schemeClr>
                </a:solidFill>
              </a:rPr>
              <a:t>• assets/ — reserved for dashboard screenshots or project visuals.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5778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D2E1F0"/>
                </a:solidFill>
              </a:defRPr>
            </a:pPr>
            <a:r>
              <a:t>Suggested project title: NovaMart E-Commerce Sales Analysis | SQL Business Intelligence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510528"/>
            <a:ext cx="10972800" cy="13716"/>
          </a:xfrm>
          <a:prstGeom prst="rect">
            <a:avLst/>
          </a:prstGeom>
          <a:solidFill>
            <a:srgbClr val="CD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" y="6547104"/>
            <a:ext cx="7315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078"/>
                </a:solidFill>
              </a:defRPr>
            </a:pPr>
            <a:r>
              <a:t>NovaMart E-Commerce Sales Analysis • SQL Portfolio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97078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1390</Words>
  <Application>Microsoft Office PowerPoint</Application>
  <PresentationFormat>Widescreen</PresentationFormat>
  <Paragraphs>146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Rajas Bhingarde</cp:lastModifiedBy>
  <cp:revision>2</cp:revision>
  <dcterms:created xsi:type="dcterms:W3CDTF">2013-01-27T09:14:16Z</dcterms:created>
  <dcterms:modified xsi:type="dcterms:W3CDTF">2026-09-24T19:05:26Z</dcterms:modified>
  <cp:category/>
</cp:coreProperties>
</file>